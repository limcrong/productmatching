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72" r:id="rId3"/>
    <p:sldId id="273" r:id="rId4"/>
    <p:sldId id="275" r:id="rId5"/>
    <p:sldId id="274" r:id="rId6"/>
    <p:sldId id="284" r:id="rId7"/>
    <p:sldId id="285" r:id="rId8"/>
    <p:sldId id="269" r:id="rId9"/>
    <p:sldId id="279" r:id="rId10"/>
    <p:sldId id="258" r:id="rId11"/>
    <p:sldId id="286" r:id="rId12"/>
    <p:sldId id="261" r:id="rId13"/>
    <p:sldId id="268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2FA"/>
    <a:srgbClr val="79F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7" autoAdjust="0"/>
    <p:restoredTop sz="76227" autoAdjust="0"/>
  </p:normalViewPr>
  <p:slideViewPr>
    <p:cSldViewPr snapToGrid="0" snapToObjects="1">
      <p:cViewPr varScale="1">
        <p:scale>
          <a:sx n="101" d="100"/>
          <a:sy n="101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54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Good evening prof and fellow students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I’m Choon Rong from Group 43.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My project is about </a:t>
            </a:r>
            <a:r>
              <a:rPr lang="en-SG" b="1" dirty="0"/>
              <a:t>Multimodal Product Matching for Cross-Merchant Comparison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 core problem is identifying when different online listings actually represent the </a:t>
            </a:r>
            <a:r>
              <a:rPr lang="en-SG" b="1" dirty="0"/>
              <a:t>same underlying product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 approach this as a pattern-recognition problem using both </a:t>
            </a:r>
            <a:r>
              <a:rPr lang="en-SG" b="1" dirty="0"/>
              <a:t>product titles and images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I'll be sharing about the objective, scope,  dataset, and 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85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What is Product Matching?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 same physical product can appear online differently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Sellers use different titles, abbreviations, photographs and descriptions, so exact matching is difficult.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In this example, the first two listings describe the same iPhone, while the third is actually an accessory.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Even though the </a:t>
            </a:r>
            <a:r>
              <a:rPr lang="en-SG" dirty="0" err="1"/>
              <a:t>color</a:t>
            </a:r>
            <a:r>
              <a:rPr lang="en-SG" dirty="0"/>
              <a:t> is different but it is the same product, and when the image is different it is different product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So the task is: </a:t>
            </a:r>
            <a:r>
              <a:rPr lang="en-SG" b="1" dirty="0"/>
              <a:t>given two noisy multimodal observations, determine whether they represent the same product identity</a:t>
            </a:r>
            <a:r>
              <a:rPr lang="en-SG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901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My goal will be to combine text and image information to improve product matching</a:t>
            </a:r>
            <a:endParaRPr lang="en-SG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These are the objectives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Build working prototype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Compare</a:t>
            </a:r>
            <a:r>
              <a:rPr lang="en-SG" baseline="0" dirty="0"/>
              <a:t> the individual approaches and the multimodal approaches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Quantify using </a:t>
            </a:r>
            <a:r>
              <a:rPr lang="en-SG" b="1" dirty="0"/>
              <a:t>Precision, Recall and F1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0" dirty="0"/>
              <a:t>Demonstrate</a:t>
            </a:r>
            <a:r>
              <a:rPr lang="en-SG" b="0" baseline="0" dirty="0"/>
              <a:t> and test the results with the ground truth</a:t>
            </a:r>
            <a:endParaRPr lang="en-SG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I’ll apply the trained models to live listings.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580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5 — The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My primary dataset is the </a:t>
            </a:r>
            <a:r>
              <a:rPr lang="en-SG" b="1" dirty="0"/>
              <a:t>Shopee Product Matching dataset from Kaggle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It contains roughly </a:t>
            </a:r>
            <a:r>
              <a:rPr lang="en-SG" b="1" dirty="0"/>
              <a:t>34,250 labelled listings</a:t>
            </a:r>
            <a:r>
              <a:rPr lang="en-SG" dirty="0"/>
              <a:t> belonging to around </a:t>
            </a:r>
            <a:r>
              <a:rPr lang="en-SG" b="1" dirty="0"/>
              <a:t>11,014 product groups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Each listing contains two important modalities: a seller-written </a:t>
            </a:r>
            <a:r>
              <a:rPr lang="en-SG" b="1" dirty="0"/>
              <a:t>title and product image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It also contains </a:t>
            </a:r>
            <a:r>
              <a:rPr lang="en-SG" dirty="0" err="1"/>
              <a:t>label_group</a:t>
            </a:r>
            <a:r>
              <a:rPr lang="en-SG" dirty="0"/>
              <a:t>, which helps us identifies product does it represent.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023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6 — Dataset and Ground Truth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Using the </a:t>
            </a:r>
            <a:r>
              <a:rPr lang="en-SG" dirty="0" err="1"/>
              <a:t>label_group</a:t>
            </a:r>
            <a:r>
              <a:rPr lang="en-SG" dirty="0"/>
              <a:t>, which represents the </a:t>
            </a:r>
            <a:r>
              <a:rPr lang="en-SG" b="1" dirty="0"/>
              <a:t>ground-truth product identity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Importantly, I separate training, validation and test data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During evaluation, I take a held-out listing that is not seen during training ask the model to retrieve likely matches.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 compare the retrieved products against the query's actual </a:t>
            </a:r>
            <a:r>
              <a:rPr lang="en-SG" dirty="0" err="1"/>
              <a:t>label_group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Then we aggregate them to obtain the metrics of the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572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9 — Proposed System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system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listing title goes through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encoder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its image goes through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encoder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produce embeddings that represent the listing in their respective feature spaces.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Nearest-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neighbour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retrieval is then used to identify plausible candidate matches.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and image similarity scores are fused, and we will determine using a threshold whether it is a match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30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11 — Project Plan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So the project</a:t>
            </a:r>
            <a:r>
              <a:rPr lang="en-SG" baseline="0" dirty="0"/>
              <a:t> plan will be 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To establish</a:t>
            </a:r>
            <a:r>
              <a:rPr lang="en-SG" baseline="0" dirty="0"/>
              <a:t> a baseline using TF-IDF 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Then by adding text</a:t>
            </a:r>
            <a:r>
              <a:rPr lang="en-SG" baseline="0" dirty="0"/>
              <a:t> </a:t>
            </a:r>
            <a:r>
              <a:rPr lang="en-SG" baseline="0" dirty="0" err="1"/>
              <a:t>embeddings</a:t>
            </a:r>
            <a:r>
              <a:rPr lang="en-SG" baseline="0" dirty="0"/>
              <a:t> and Image </a:t>
            </a:r>
            <a:r>
              <a:rPr lang="en-SG" baseline="0" dirty="0" err="1"/>
              <a:t>embeddings</a:t>
            </a:r>
            <a:r>
              <a:rPr lang="en-SG" baseline="0" dirty="0"/>
              <a:t> to compare the results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Once the model is validated, we can use it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10 — Technology Stack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0" dirty="0"/>
              <a:t>This</a:t>
            </a:r>
            <a:r>
              <a:rPr lang="en-SG" b="0" baseline="0" dirty="0"/>
              <a:t> is the tech stack I will be using</a:t>
            </a:r>
            <a:endParaRPr lang="en-SG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 err="1"/>
              <a:t>PyTorch</a:t>
            </a:r>
            <a:r>
              <a:rPr lang="en-SG" dirty="0"/>
              <a:t> and Hugging Face</a:t>
            </a:r>
            <a:r>
              <a:rPr lang="en-SG" baseline="0" dirty="0"/>
              <a:t> for the </a:t>
            </a:r>
            <a:r>
              <a:rPr lang="en-SG" baseline="0" dirty="0" err="1"/>
              <a:t>embeddings</a:t>
            </a:r>
            <a:endParaRPr lang="en-SG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Pandas and </a:t>
            </a:r>
            <a:r>
              <a:rPr lang="en-SG" dirty="0" err="1"/>
              <a:t>NumPy</a:t>
            </a:r>
            <a:r>
              <a:rPr lang="en-SG" dirty="0"/>
              <a:t> for handling</a:t>
            </a:r>
            <a:r>
              <a:rPr lang="en-SG" baseline="0" dirty="0"/>
              <a:t> </a:t>
            </a:r>
            <a:r>
              <a:rPr lang="en-SG" dirty="0"/>
              <a:t>the dataset processing.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(Skip?)</a:t>
            </a:r>
            <a:r>
              <a:rPr lang="en-SG" baseline="0" dirty="0"/>
              <a:t> Retrieval we will use FAISS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 err="1"/>
              <a:t>Stremlit</a:t>
            </a:r>
            <a:r>
              <a:rPr lang="en-SG" dirty="0"/>
              <a:t> for the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981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About the module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We</a:t>
            </a:r>
            <a:r>
              <a:rPr lang="en-SG" baseline="0" dirty="0"/>
              <a:t> have to fulfil 3 out of 4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Supervised learning </a:t>
            </a:r>
            <a:r>
              <a:rPr lang="en-SG" dirty="0"/>
              <a:t>is applied</a:t>
            </a:r>
            <a:r>
              <a:rPr lang="en-SG" baseline="0" dirty="0"/>
              <a:t> by using </a:t>
            </a:r>
            <a:r>
              <a:rPr lang="en-SG" dirty="0" err="1"/>
              <a:t>Shopee's</a:t>
            </a:r>
            <a:r>
              <a:rPr lang="en-SG" dirty="0"/>
              <a:t> </a:t>
            </a:r>
            <a:r>
              <a:rPr lang="en-SG" dirty="0" err="1"/>
              <a:t>label_group</a:t>
            </a:r>
            <a:r>
              <a:rPr lang="en-SG" dirty="0"/>
              <a:t> to provide ground-truth and train the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For ML and deep learning, we use CNN to do visual representations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Hybrid approach</a:t>
            </a:r>
            <a:r>
              <a:rPr lang="en-SG" dirty="0"/>
              <a:t> is applied by combining independent text and image similarity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12 — Evaluation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In the held</a:t>
            </a:r>
            <a:r>
              <a:rPr lang="en-SG" baseline="0" dirty="0"/>
              <a:t> out set we will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aseline="0" dirty="0"/>
              <a:t>Retrieve top K candidates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aseline="0" dirty="0"/>
              <a:t>Apply threshold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aseline="0" dirty="0"/>
              <a:t>And check against label group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Then count the True Positive</a:t>
            </a:r>
            <a:r>
              <a:rPr lang="en-SG" baseline="0" dirty="0"/>
              <a:t> and false Positive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Precision</a:t>
            </a:r>
            <a:r>
              <a:rPr lang="en-SG" dirty="0"/>
              <a:t> measures how many predicted matches are actually correct.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Recall</a:t>
            </a:r>
            <a:r>
              <a:rPr lang="en-SG" dirty="0"/>
              <a:t> measures how many of the true matching listings the system successfully retrieves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99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7 — What Does the Model Learn?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Because the model is not training to predict one of the 11,000 </a:t>
            </a:r>
            <a:r>
              <a:rPr lang="en-SG" dirty="0" err="1"/>
              <a:t>Shopee</a:t>
            </a:r>
            <a:r>
              <a:rPr lang="en-SG" dirty="0"/>
              <a:t> </a:t>
            </a:r>
            <a:r>
              <a:rPr lang="en-SG" dirty="0" err="1"/>
              <a:t>label_group</a:t>
            </a:r>
            <a:r>
              <a:rPr lang="en-SG" dirty="0"/>
              <a:t> IDs.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Instead, the text encoder converts a title into an embedding, while the image encoder produces a visual embedding.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Similar products should have </a:t>
            </a:r>
            <a:r>
              <a:rPr lang="en-SG" dirty="0" err="1"/>
              <a:t>embeddings</a:t>
            </a:r>
            <a:r>
              <a:rPr lang="en-SG" dirty="0"/>
              <a:t> or similarity scores that are close, while different products should be separated.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 can then combine text and image similarities using voting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This architecture also means an unseen product can technically be encoded and compared without having an existing class ID in the training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8 — Generalisation to Unseen Products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In the case of an unseen product as I mentioned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For example, a future iPhone model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 system doesn't search for its training </a:t>
            </a:r>
            <a:r>
              <a:rPr lang="en-SG" dirty="0" err="1"/>
              <a:t>label_group</a:t>
            </a:r>
            <a:r>
              <a:rPr lang="en-SG" dirty="0"/>
              <a:t>; it simply encodes the new query and candidate listings.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It then performs similarity inference between the query and those newly retrieved candidates.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SG" dirty="0"/>
              <a:t>So no class lookup for new candidates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13 — Runnable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In my demo we will show two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 Dataset Matcher which validates the model with the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We can inspect the</a:t>
            </a:r>
            <a:r>
              <a:rPr lang="en-SG" baseline="0" dirty="0"/>
              <a:t> values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And we have a visual </a:t>
            </a:r>
            <a:r>
              <a:rPr lang="en-SG" b="1" dirty="0"/>
              <a:t>Shopping Assistant</a:t>
            </a:r>
            <a:r>
              <a:rPr lang="en-SG" dirty="0"/>
              <a:t>, where a consumer uploads a screenshot or product image.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Then the model will be used to match related 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b="1" dirty="0"/>
              <a:t>Slide 14 — Consumer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In the demo we will</a:t>
            </a:r>
            <a:r>
              <a:rPr lang="en-SG" baseline="0" dirty="0"/>
              <a:t> apply the model using our POC application</a:t>
            </a:r>
            <a:endParaRPr lang="en-S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A user might be browsing social media and upload a screenshot of a product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We retrieves a set of potential listings from the web.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The model then uses the title and image information to </a:t>
            </a:r>
            <a:r>
              <a:rPr lang="en-SG" b="1" dirty="0"/>
              <a:t>re-rank or filter those candidates</a:t>
            </a:r>
            <a:r>
              <a:rPr lang="en-SG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dirty="0"/>
              <a:t>We can then return the cheapest offering.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77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1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1876" y="91440"/>
            <a:ext cx="4114800" cy="411480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2970" y="3951214"/>
            <a:ext cx="2766399" cy="2769625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5FCB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GRADUATE CERTIFICATE IN PATTERN RECOGNITION SYSTEMS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Product Matching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ADCE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for Cross-Merchant Comparison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FCB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Proposal Presentation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25400">
            <a:solidFill>
              <a:srgbClr val="5FC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 Choon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Rong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9CBD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Group 43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2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Product Matching?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different listing — across sellers and marketplaces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9F1F5"/>
          </a:solidFill>
          <a:ln w="12700">
            <a:solidFill>
              <a:srgbClr val="CB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301752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"iPhone 17 Pro Max 256GB - New"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88920" y="173736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9F1F5"/>
          </a:solidFill>
          <a:ln w="12700">
            <a:solidFill>
              <a:srgbClr val="CB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53512" y="301752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"Apple iPhone17ProMax Model 256G Ori"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0" y="173736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9F1F5"/>
          </a:solidFill>
          <a:ln w="12700">
            <a:solidFill>
              <a:srgbClr val="CB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02352" y="301752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kumimoji="0" lang="en-SG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Apple iPhone 17 Pro Max </a:t>
            </a:r>
            <a:r>
              <a:rPr kumimoji="0" lang="en-SG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TechWoven</a:t>
            </a:r>
            <a:r>
              <a:rPr kumimoji="0" lang="en-SG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Case with </a:t>
            </a:r>
            <a:r>
              <a:rPr kumimoji="0" lang="en-SG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MagSafe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listings. Two product.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21040" y="1737360"/>
            <a:ext cx="411480" cy="41148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15400" y="1709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listings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321040" y="2697480"/>
            <a:ext cx="411480" cy="41148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15400" y="2670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Poor price comparison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21040" y="3657600"/>
            <a:ext cx="411480" cy="411480"/>
          </a:xfrm>
          <a:prstGeom prst="ellipse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210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15400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 doesn't scale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41" y="1920240"/>
            <a:ext cx="1262919" cy="994981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967" y="1920240"/>
            <a:ext cx="1202529" cy="994029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981" y="1927480"/>
            <a:ext cx="637798" cy="97574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04672" y="5058884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65D"/>
                </a:solidFill>
              </a:rPr>
              <a:t>Pattern-recognition task: determine whether two noisy multimodal observations correspond to the same underlying product identity.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382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 &amp; Objectives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Combine text and image information to try and improve product matching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simpler, unimodal approaches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245973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working, end-to-end product matching prototype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323697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classical, text, image and multimodal approaches on equal footing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401421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contribution of every optimisation with Precision, Recall and F1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479145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results interactively against held-out ground truth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822960" y="54772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3"/>
          <p:cNvSpPr/>
          <p:nvPr/>
        </p:nvSpPr>
        <p:spPr>
          <a:xfrm>
            <a:off x="822960" y="5477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1371600" y="540867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Apply model on live web results</a:t>
            </a:r>
            <a:r>
              <a:rPr kumimoji="0" lang="en-US" sz="1500" b="0" i="0" u="none" strike="noStrike" kern="1200" cap="none" spc="0" normalizeH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04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Kaggle Shopee Product Matching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FCBA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~34,250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labelled listings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51960" y="17830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FCBA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11,014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5196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label groups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0" y="17830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FCBA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6384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per listing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(title + image)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5671" y="33879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listing provides:</a:t>
            </a:r>
            <a:endParaRPr kumimoji="0" lang="en-US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60373" y="380390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9991" y="36805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 title (free text)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60373" y="418795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99991" y="40645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(JPEG)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60373" y="45720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99991" y="446007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label_group (train only)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35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66928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ea typeface="Aptos Display" pitchFamily="34" charset="-122"/>
                <a:cs typeface="Aptos Display" pitchFamily="34" charset="-120"/>
              </a:rPr>
              <a:t>Dataset: Shopee Product Matching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 1"/>
          <p:cNvSpPr/>
          <p:nvPr/>
        </p:nvSpPr>
        <p:spPr>
          <a:xfrm>
            <a:off x="585216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ea typeface="+mn-ea"/>
                <a:cs typeface="+mn-cs"/>
              </a:rPr>
              <a:t>Labels make the matching problem objectively measurable.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685800" y="1241050"/>
            <a:ext cx="37947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3"/>
          <p:cNvSpPr/>
          <p:nvPr/>
        </p:nvSpPr>
        <p:spPr>
          <a:xfrm>
            <a:off x="96012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ea typeface="+mn-ea"/>
                <a:cs typeface="+mn-cs"/>
              </a:rPr>
              <a:t>Each listing contains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987552" y="2240280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5"/>
          <p:cNvSpPr/>
          <p:nvPr/>
        </p:nvSpPr>
        <p:spPr>
          <a:xfrm>
            <a:off x="1060704" y="2304288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Product title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987552" y="2953512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7"/>
          <p:cNvSpPr/>
          <p:nvPr/>
        </p:nvSpPr>
        <p:spPr>
          <a:xfrm>
            <a:off x="1060704" y="301752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Product image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987552" y="3666744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9"/>
          <p:cNvSpPr/>
          <p:nvPr/>
        </p:nvSpPr>
        <p:spPr>
          <a:xfrm>
            <a:off x="1060704" y="373075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label_group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987552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label_group = product identity ground truth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4800600" y="2395728"/>
            <a:ext cx="1005840" cy="1097280"/>
          </a:xfrm>
          <a:prstGeom prst="chevron">
            <a:avLst/>
          </a:prstGeom>
          <a:solidFill>
            <a:srgbClr val="D7E7F7"/>
          </a:solidFill>
          <a:ln w="12700">
            <a:solidFill>
              <a:srgbClr val="D7E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2"/>
          <p:cNvSpPr/>
          <p:nvPr/>
        </p:nvSpPr>
        <p:spPr>
          <a:xfrm>
            <a:off x="6126480" y="1353312"/>
            <a:ext cx="5349240" cy="4160520"/>
          </a:xfrm>
          <a:prstGeom prst="roundRect">
            <a:avLst/>
          </a:prstGeom>
          <a:solidFill>
            <a:srgbClr val="EDF9F7"/>
          </a:solidFill>
          <a:ln w="12700">
            <a:solidFill>
              <a:srgbClr val="B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3"/>
          <p:cNvSpPr/>
          <p:nvPr/>
        </p:nvSpPr>
        <p:spPr>
          <a:xfrm>
            <a:off x="6446520" y="1645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ea typeface="+mn-ea"/>
                <a:cs typeface="+mn-cs"/>
              </a:rPr>
              <a:t>Held-out evaluation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6583680" y="2194560"/>
            <a:ext cx="438912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Query listing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Retrieve predicted matches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Compare each result with label_group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ea typeface="+mn-ea"/>
                <a:cs typeface="+mn-cs"/>
              </a:rPr>
              <a:t>Aggregate metrics across queries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47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66928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 architecture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640080" y="2331720"/>
            <a:ext cx="1417320" cy="731520"/>
          </a:xfrm>
          <a:prstGeom prst="round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3"/>
          <p:cNvSpPr/>
          <p:nvPr/>
        </p:nvSpPr>
        <p:spPr>
          <a:xfrm>
            <a:off x="685800" y="24780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Shopee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2514600" y="1417320"/>
            <a:ext cx="1645920" cy="731520"/>
          </a:xfrm>
          <a:prstGeom prst="round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5"/>
          <p:cNvSpPr/>
          <p:nvPr/>
        </p:nvSpPr>
        <p:spPr>
          <a:xfrm>
            <a:off x="2560320" y="15636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2514600" y="3246120"/>
            <a:ext cx="1645920" cy="731520"/>
          </a:xfrm>
          <a:prstGeom prst="roundRect">
            <a:avLst/>
          </a:prstGeom>
          <a:solidFill>
            <a:srgbClr val="16A3B6"/>
          </a:solidFill>
          <a:ln w="12700">
            <a:solidFill>
              <a:srgbClr val="16A3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7"/>
          <p:cNvSpPr/>
          <p:nvPr/>
        </p:nvSpPr>
        <p:spPr>
          <a:xfrm>
            <a:off x="2560320" y="33924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4709160" y="1417320"/>
            <a:ext cx="1691640" cy="731520"/>
          </a:xfrm>
          <a:prstGeom prst="round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9"/>
          <p:cNvSpPr/>
          <p:nvPr/>
        </p:nvSpPr>
        <p:spPr>
          <a:xfrm>
            <a:off x="4754880" y="15636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4709160" y="3246120"/>
            <a:ext cx="1691640" cy="731520"/>
          </a:xfrm>
          <a:prstGeom prst="roundRect">
            <a:avLst/>
          </a:prstGeom>
          <a:solidFill>
            <a:srgbClr val="16A3B6"/>
          </a:solidFill>
          <a:ln w="12700">
            <a:solidFill>
              <a:srgbClr val="16A3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1"/>
          <p:cNvSpPr/>
          <p:nvPr/>
        </p:nvSpPr>
        <p:spPr>
          <a:xfrm>
            <a:off x="4754880" y="33924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6995160" y="2331720"/>
            <a:ext cx="1691640" cy="7315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3"/>
          <p:cNvSpPr/>
          <p:nvPr/>
        </p:nvSpPr>
        <p:spPr>
          <a:xfrm>
            <a:off x="7040880" y="24780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9189720" y="2331720"/>
            <a:ext cx="1508760" cy="73152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5"/>
          <p:cNvSpPr/>
          <p:nvPr/>
        </p:nvSpPr>
        <p:spPr>
          <a:xfrm>
            <a:off x="9235440" y="24780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Fusion +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11018520" y="2331720"/>
            <a:ext cx="777240" cy="731520"/>
          </a:xfrm>
          <a:prstGeom prst="round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7"/>
          <p:cNvSpPr/>
          <p:nvPr/>
        </p:nvSpPr>
        <p:spPr>
          <a:xfrm>
            <a:off x="11064240" y="247802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2057400" y="1627632"/>
            <a:ext cx="347472" cy="310896"/>
          </a:xfrm>
          <a:prstGeom prst="chevron">
            <a:avLst/>
          </a:prstGeom>
          <a:solidFill>
            <a:srgbClr val="B8C4D1"/>
          </a:solidFill>
          <a:ln w="12700">
            <a:solidFill>
              <a:srgbClr val="B8C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9"/>
          <p:cNvSpPr/>
          <p:nvPr/>
        </p:nvSpPr>
        <p:spPr>
          <a:xfrm>
            <a:off x="4206240" y="1627632"/>
            <a:ext cx="347472" cy="310896"/>
          </a:xfrm>
          <a:prstGeom prst="chevron">
            <a:avLst/>
          </a:prstGeom>
          <a:solidFill>
            <a:srgbClr val="B8C4D1"/>
          </a:solidFill>
          <a:ln w="12700">
            <a:solidFill>
              <a:srgbClr val="B8C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0"/>
          <p:cNvSpPr/>
          <p:nvPr/>
        </p:nvSpPr>
        <p:spPr>
          <a:xfrm>
            <a:off x="4206240" y="3456432"/>
            <a:ext cx="347472" cy="310896"/>
          </a:xfrm>
          <a:prstGeom prst="chevron">
            <a:avLst/>
          </a:prstGeom>
          <a:solidFill>
            <a:srgbClr val="B8C4D1"/>
          </a:solidFill>
          <a:ln w="12700">
            <a:solidFill>
              <a:srgbClr val="B8C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1"/>
          <p:cNvSpPr/>
          <p:nvPr/>
        </p:nvSpPr>
        <p:spPr>
          <a:xfrm>
            <a:off x="6675120" y="2542032"/>
            <a:ext cx="164592" cy="310896"/>
          </a:xfrm>
          <a:prstGeom prst="chevron">
            <a:avLst/>
          </a:prstGeom>
          <a:solidFill>
            <a:srgbClr val="B8C4D1"/>
          </a:solidFill>
          <a:ln w="12700">
            <a:solidFill>
              <a:srgbClr val="B8C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2"/>
          <p:cNvSpPr/>
          <p:nvPr/>
        </p:nvSpPr>
        <p:spPr>
          <a:xfrm>
            <a:off x="8750808" y="2542032"/>
            <a:ext cx="365760" cy="310896"/>
          </a:xfrm>
          <a:prstGeom prst="chevron">
            <a:avLst/>
          </a:prstGeom>
          <a:solidFill>
            <a:srgbClr val="B8C4D1"/>
          </a:solidFill>
          <a:ln w="12700">
            <a:solidFill>
              <a:srgbClr val="B8C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3"/>
          <p:cNvSpPr/>
          <p:nvPr/>
        </p:nvSpPr>
        <p:spPr>
          <a:xfrm>
            <a:off x="10744200" y="2542032"/>
            <a:ext cx="219456" cy="310896"/>
          </a:xfrm>
          <a:prstGeom prst="chevron">
            <a:avLst/>
          </a:prstGeom>
          <a:solidFill>
            <a:srgbClr val="B8C4D1"/>
          </a:solidFill>
          <a:ln w="12700">
            <a:solidFill>
              <a:srgbClr val="B8C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24"/>
          <p:cNvSpPr/>
          <p:nvPr/>
        </p:nvSpPr>
        <p:spPr>
          <a:xfrm>
            <a:off x="1371600" y="2331720"/>
            <a:ext cx="868680" cy="0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5"/>
          <p:cNvSpPr/>
          <p:nvPr/>
        </p:nvSpPr>
        <p:spPr>
          <a:xfrm>
            <a:off x="1371600" y="3063240"/>
            <a:ext cx="868680" cy="548640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6"/>
          <p:cNvSpPr/>
          <p:nvPr/>
        </p:nvSpPr>
        <p:spPr>
          <a:xfrm>
            <a:off x="5577840" y="2148840"/>
            <a:ext cx="1051560" cy="502920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27"/>
          <p:cNvSpPr/>
          <p:nvPr/>
        </p:nvSpPr>
        <p:spPr>
          <a:xfrm>
            <a:off x="5577840" y="3246120"/>
            <a:ext cx="1051560" cy="0"/>
          </a:xfrm>
          <a:prstGeom prst="line">
            <a:avLst/>
          </a:prstGeom>
          <a:noFill/>
          <a:ln w="1905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8"/>
          <p:cNvSpPr/>
          <p:nvPr/>
        </p:nvSpPr>
        <p:spPr>
          <a:xfrm>
            <a:off x="914400" y="507492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Sentence Transformers • image encoder • FAISS / nearest-neighbour retrieval • weighted fusion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lide Number Placeholder 0"/>
          <p:cNvSpPr txBox="1">
            <a:spLocks/>
          </p:cNvSpPr>
          <p:nvPr/>
        </p:nvSpPr>
        <p:spPr>
          <a:xfrm>
            <a:off x="11722608" y="651052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7021451-1387-4CA6-816F-3879F97B5CB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6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28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8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A6A6"/>
                </a:solidFill>
              </a:rPr>
              <a:t>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8511" y="1868424"/>
            <a:ext cx="2103120" cy="13258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Baseline + evaluation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1F2937"/>
                </a:solidFill>
              </a:rPr>
              <a:t>TF-IDF Baseline</a:t>
            </a:r>
          </a:p>
        </p:txBody>
      </p:sp>
      <p:sp>
        <p:nvSpPr>
          <p:cNvPr id="11" name="Shape 9"/>
          <p:cNvSpPr/>
          <p:nvPr/>
        </p:nvSpPr>
        <p:spPr>
          <a:xfrm>
            <a:off x="2907792" y="2331720"/>
            <a:ext cx="411480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A6A6"/>
                </a:solidFill>
              </a:rPr>
              <a:t>Next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1874520"/>
            <a:ext cx="2103120" cy="13258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Deep text + vision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Embedding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96712" y="2331720"/>
            <a:ext cx="411480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A6A6"/>
                </a:solidFill>
              </a:rPr>
              <a:t>Then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2103120" cy="13258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Multimodal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85632" y="2331720"/>
            <a:ext cx="411480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9828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A6A6"/>
                </a:solidFill>
              </a:rPr>
              <a:t>Final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98280" y="1874520"/>
            <a:ext cx="2103120" cy="13258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0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Runnable MVP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544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</a:rPr>
              <a:t>Dataset matcher + live POC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2E4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Kept simple and appropriate for an academic prototype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23060" y="2103120"/>
            <a:ext cx="640080" cy="640080"/>
          </a:xfrm>
          <a:prstGeom prst="ellipse">
            <a:avLst/>
          </a:prstGeom>
          <a:solidFill>
            <a:srgbClr val="5FC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230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34747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PyTorch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4096512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Hugging Face / Sentence-Transformers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66260" y="2103120"/>
            <a:ext cx="640080" cy="640080"/>
          </a:xfrm>
          <a:prstGeom prst="ellipse">
            <a:avLst/>
          </a:prstGeom>
          <a:solidFill>
            <a:srgbClr val="5FC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662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&amp;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84448" y="34747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scikit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-learn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4448" y="4096512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 / NumPy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09460" y="2103120"/>
            <a:ext cx="640080" cy="640080"/>
          </a:xfrm>
          <a:prstGeom prst="ellipse">
            <a:avLst/>
          </a:prstGeom>
          <a:solidFill>
            <a:srgbClr val="5FC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094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27648" y="34747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6E6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FAISS (nearest-neighbour search)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8696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52660" y="2103120"/>
            <a:ext cx="640080" cy="640080"/>
          </a:xfrm>
          <a:prstGeom prst="ellipse">
            <a:avLst/>
          </a:prstGeom>
          <a:solidFill>
            <a:srgbClr val="5FC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526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00684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70848" y="347472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lang="en-US" sz="10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 err="1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0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(demo + experiment UI)</a:t>
            </a:r>
            <a:endParaRPr lang="en-US" sz="105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44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8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FIT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requirements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64008" cy="2057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1929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1  Supervised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295144"/>
            <a:ext cx="22402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Shopee label_group provides ground truth. Positive/negative product relationships support training and objective evaluation.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783080"/>
            <a:ext cx="64008" cy="20574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0328" y="1929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2  ML / Deep Learning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0328" y="2295144"/>
            <a:ext cx="22402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TF-IDF baseline, transformer text embeddings, CNN/CLIP visual representations and metric learning.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78308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69680" y="1783080"/>
            <a:ext cx="64008" cy="2057400"/>
          </a:xfrm>
          <a:prstGeom prst="rect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70848" y="1929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3  Hybrid / Ensemble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70848" y="2295144"/>
            <a:ext cx="22402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Fuse independent text and visual similarity scores and test whether fusion improves performance.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46920" y="56219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Deliverable alignment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66928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658368" y="1298448"/>
            <a:ext cx="2971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"/>
          <p:cNvSpPr/>
          <p:nvPr/>
        </p:nvSpPr>
        <p:spPr>
          <a:xfrm>
            <a:off x="96012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For every query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4"/>
          <p:cNvSpPr/>
          <p:nvPr/>
        </p:nvSpPr>
        <p:spPr>
          <a:xfrm>
            <a:off x="960120" y="21762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1.  Retrieve Top-K candidates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5"/>
          <p:cNvSpPr/>
          <p:nvPr/>
        </p:nvSpPr>
        <p:spPr>
          <a:xfrm>
            <a:off x="960120" y="27980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2.  Apply match threshold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6"/>
          <p:cNvSpPr/>
          <p:nvPr/>
        </p:nvSpPr>
        <p:spPr>
          <a:xfrm>
            <a:off x="960120" y="3419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3.  Check label_group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7"/>
          <p:cNvSpPr/>
          <p:nvPr/>
        </p:nvSpPr>
        <p:spPr>
          <a:xfrm>
            <a:off x="960120" y="40416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4.  Count TP / FP / FN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8"/>
          <p:cNvSpPr/>
          <p:nvPr/>
        </p:nvSpPr>
        <p:spPr>
          <a:xfrm>
            <a:off x="914400" y="4956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Repeat across the held-out set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3977640" y="1325880"/>
            <a:ext cx="7498080" cy="1124712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C7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0"/>
          <p:cNvSpPr/>
          <p:nvPr/>
        </p:nvSpPr>
        <p:spPr>
          <a:xfrm>
            <a:off x="4315968" y="15087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B5CA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Precision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715000" y="14996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 predicted matches, how many are correct?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9555480" y="1490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TP / (TP + FP)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3977640" y="2743200"/>
            <a:ext cx="7498080" cy="1124712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C7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4"/>
          <p:cNvSpPr/>
          <p:nvPr/>
        </p:nvSpPr>
        <p:spPr>
          <a:xfrm>
            <a:off x="4315968" y="2926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B5CA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Recall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5715000" y="29169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 all true matches, how many did we find?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9555480" y="29077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TP / (TP + FN)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3977640" y="4160520"/>
            <a:ext cx="7498080" cy="1124712"/>
          </a:xfrm>
          <a:prstGeom prst="roundRect">
            <a:avLst/>
          </a:prstGeom>
          <a:solidFill>
            <a:srgbClr val="EDF9F7"/>
          </a:solidFill>
          <a:ln w="12700">
            <a:solidFill>
              <a:srgbClr val="B7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8"/>
          <p:cNvSpPr/>
          <p:nvPr/>
        </p:nvSpPr>
        <p:spPr>
          <a:xfrm>
            <a:off x="4315968" y="4343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5715000" y="43342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72B4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Balanced summary of precision and recall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9555480" y="43251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2PR / (P + R)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94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8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model actually learn?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88036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64008" cy="20574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1929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Text encoder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295144"/>
            <a:ext cx="25146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Title → embedding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45152" y="1783080"/>
            <a:ext cx="288036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45152" y="1783080"/>
            <a:ext cx="64008" cy="2057400"/>
          </a:xfrm>
          <a:prstGeom prst="rect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929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Image encoder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2295144"/>
            <a:ext cx="25146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Image → embedding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1783080"/>
            <a:ext cx="288036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64008" cy="2057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96528" y="1929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Fusion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96528" y="2295144"/>
            <a:ext cx="25146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/>
              <a:t>Merge using voting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Rank candidates and apply a validation-selected threshold.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30752" y="2578608"/>
            <a:ext cx="685800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80960" y="2578608"/>
            <a:ext cx="685800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4074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Same label_group → embeddings/scores should be close     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Different </a:t>
            </a:r>
            <a:r>
              <a:rPr lang="en-US" sz="1700" b="1" dirty="0" err="1">
                <a:solidFill>
                  <a:srgbClr val="1F2937"/>
                </a:solidFill>
              </a:rPr>
              <a:t>label_group</a:t>
            </a:r>
            <a:r>
              <a:rPr lang="en-US" sz="1700" b="1" dirty="0">
                <a:solidFill>
                  <a:srgbClr val="1F2937"/>
                </a:solidFill>
              </a:rPr>
              <a:t> → should be separated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66647" y="547725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64748B"/>
                </a:solidFill>
              </a:rPr>
              <a:t>Because the model learns similarity rather than a fixed product class, an unseen product can still be encoded and compared with new candidate listings.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8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with a completely unseen product?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Example: a future iPhone absent from the Shopee training set.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64008" cy="20574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03020" y="25374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</a:rPr>
              <a:t>1  No class lookup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53712" y="1783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53712" y="1783080"/>
            <a:ext cx="64008" cy="2057400"/>
          </a:xfrm>
          <a:prstGeom prst="rect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70932" y="2527875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</a:rPr>
              <a:t>2  New candidates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366760" y="1783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1783080"/>
            <a:ext cx="6400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2527875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</a:rPr>
              <a:t>3  Similarity inference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18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64008" cy="32004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</a:rPr>
              <a:t>A  Dataset Matcher — evaluated core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6968" y="1883664"/>
            <a:ext cx="489204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Input: held-out Shopee listing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choose TF-IDF / text / image / multimodal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retrieve candidates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show similarity scores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reveal true/false/missed matches using label_group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display per-query precision / recall / F1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6208" y="137160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3F6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36208" y="1371600"/>
            <a:ext cx="64008" cy="3200400"/>
          </a:xfrm>
          <a:prstGeom prst="rect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37376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65D"/>
                </a:solidFill>
              </a:rPr>
              <a:t>B  Visual Shopping Assistant — product POC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37376" y="1883664"/>
            <a:ext cx="489204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Input: screenshot or product image + optional text hint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external service retrieves shopping candidates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trained matcher re-ranks / filters candidates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show likely exact-product listings by merchant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compare available offer prices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Purpose: demonstrate real-world consumer applicability.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8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APPLICATION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417320" y="1508760"/>
            <a:ext cx="502920" cy="5029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6093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65D"/>
                </a:solidFill>
              </a:rPr>
              <a:t>Upload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Screenshot / product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Optional text hint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16352" y="2286000"/>
            <a:ext cx="438912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33672" y="1508760"/>
            <a:ext cx="502920" cy="5029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33672" y="16093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2152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65D"/>
                </a:solidFill>
              </a:rPr>
              <a:t>Retrieve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02152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External visual / shopping 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returns candidate listings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32704" y="2286000"/>
            <a:ext cx="438912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50024" y="1508760"/>
            <a:ext cx="502920" cy="5029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50024" y="16093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8504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65D"/>
                </a:solidFill>
              </a:rPr>
              <a:t>Match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18504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Text + image encoders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multimodal similarity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49056" y="2286000"/>
            <a:ext cx="438912" cy="347472"/>
          </a:xfrm>
          <a:prstGeom prst="chevron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66376" y="1508760"/>
            <a:ext cx="502920" cy="5029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66376" y="16093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34856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65D"/>
                </a:solidFill>
              </a:rPr>
              <a:t>Compare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34856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Filter likely exact matches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show merchant + price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20240" y="4160520"/>
            <a:ext cx="8366760" cy="1143000"/>
          </a:xfrm>
          <a:prstGeom prst="roundRect">
            <a:avLst/>
          </a:prstGeom>
          <a:solidFill>
            <a:srgbClr val="EAF7F7"/>
          </a:solidFill>
          <a:ln w="19050">
            <a:solidFill>
              <a:srgbClr val="18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76272" y="440740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</a:rPr>
              <a:t>Among predicted exact-product matches return the cheapest available offer.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4295</TotalTime>
  <Words>1697</Words>
  <Application>Microsoft Macintosh PowerPoint</Application>
  <PresentationFormat>Widescreen</PresentationFormat>
  <Paragraphs>287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NUS-ISS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Product Matching for Cross-Merchant Comparison</dc:title>
  <dc:subject>NUS-ISS Pattern Recognition Systems Practice Module</dc:subject>
  <dc:creator>Group 43</dc:creator>
  <cp:lastModifiedBy>Choon Rong Lim</cp:lastModifiedBy>
  <cp:revision>21</cp:revision>
  <dcterms:created xsi:type="dcterms:W3CDTF">2026-09-27T13:57:05Z</dcterms:created>
  <dcterms:modified xsi:type="dcterms:W3CDTF">2026-10-03T01:08:19Z</dcterms:modified>
</cp:coreProperties>
</file>